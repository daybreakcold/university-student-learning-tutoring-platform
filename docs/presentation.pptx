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欢迎大家，今天讲解大学生学习辅导平台的技术架构。技术栈：Vite 8 + React 19 + React Router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整个讲解分为6个部分，预计60-90分钟。先看效果再拆代码，每部分都有演示和互动。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我们先从宏观角度看看这个项目。不急着看代码，先打开浏览器看效果。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【互动提问】先问：点击导航时地址栏变了但页面没闪烁，为什么？答案：SPA不重新请求HTML，JS在同一页面内替换组件。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项目结构清晰：components放可复用组件，pages放路由页面。这种分离让代码职责明确。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整个应用像套娃层层嵌套。Outlet是关键——它根据URL显示不同页面组件。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进入React核心概念。React是什么？用一句话说：React让你用写函数的方式写UI。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这是最简单的组件。一个函数返回JSX就是React组件。注意大写开头。</a:t>
            </a:r>
          </a:p>
          <a:p>
            <a:r>
              <a:t>【演示】修改文字保存，浏览器自动更新——这就是Vite的HMR。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JSX看起来像HTML但不是HTML。Vite编译时把JSX转成React.createElement()函数调用。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普通变量函数执行完就没了，但useState创建的变量React会帮你记住。就像手机备忘录。</a:t>
            </a:r>
          </a:p>
          <a:p>
            <a:r>
              <a:t>规则：只能在函数顶层调用，不能在if/for中调用。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Navbar有两个状态：hoveredTo记录悬停链接，query记录搜索内容。每次状态变化React都会重新渲染。</a:t>
            </a:r>
          </a:p>
          <a:p>
            <a:r>
              <a:t>【演示】打开React DevTools观察状态变化。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React事件和HTML类似但有两个区别：驼峰命名，传函数引用。onChange在React中每次输入都触发。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这个函数解决了UX问题：悬停其他链接时，当前页面的高亮要暂时让位。用三元运算符做条件渲染。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用.map()把数据数组变成JSX数组。key是必须的——帮React高效更新DOM。</a:t>
            </a:r>
          </a:p>
          <a:p>
            <a:r>
              <a:t>【互动】问：去掉key会怎样？答：控制台warning，且可能导致UI错误。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数据驱动是React核心理念。把数据和渲染分开，方便维护和扩展。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路由做了一件事：根据URL决定显示哪个组件。就像电视遥控器换台。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8个路由定义在App.jsx。父Route没有path只有element，所有子路由都先渲染Layout。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Router从上到下匹配最精确的。:id匹配任意值，*匹配所有未被捕获的URL。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【演示】在浏览器中切换页面，打开Elements面板。观察&lt;header&gt;不变，只有&lt;main&gt;内部在变。</a:t>
            </a:r>
          </a:p>
          <a:p>
            <a:r>
              <a:t>类比：Outlet就像相框，框不变，里面的照片根据URL自动换。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【演示】在浏览器访问/courses/42，/courses/hello，观察页面显示不同id。</a:t>
            </a:r>
          </a:p>
          <a:p>
            <a:r>
              <a:t>后续接后端后，用id去请求课程数据。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NavLink比Link多一个功能：知道当前页是不是自己指向的，通过isActive参数告诉你。</a:t>
            </a:r>
          </a:p>
          <a:p>
            <a:r>
              <a:t>【互动】问：两种链接的区别？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CSS部分是这个项目的亮点之一，用了很多现代CSS技巧。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【演示】打开开发者工具，修改:root的--accent值为#ff6600（橙色），所有使用var(--accent)的地方同时变色。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【演示】开发者工具 -&gt; Rendering -&gt; prefers-color-scheme: dark，整个页面切换暗色。</a:t>
            </a:r>
          </a:p>
          <a:p>
            <a:r>
              <a:t>不需要写两套CSS，只需重新赋值变量。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Flexbox是布局核心。三栏：左边品牌区固定宽度，中间导航flex:1占满，右边功能区固定宽度。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【演示】慢慢拖窄浏览器窗口，让大家看到每个断点的布局变化。这是视觉冲击最强的部分。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三层背景叠加。CSS多背景用逗号分隔，先写的在上面。这个技巧常用于做有质感的Header。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最后看构建工具和代码质量工具。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Vite就像翻译官，把JSX翻译成JS。ESLint是代码审查助手。</a:t>
            </a:r>
          </a:p>
          <a:p>
            <a:r>
              <a:t>【演示】故意引入未使用变量，运行lint看报错。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项目骨架搭好了。建议：先加状态管理和数据获取，把占位页面变成真实功能。</a:t>
            </a:r>
          </a:p>
          <a:p>
            <a:r>
              <a:t>动手做比看10遍文档更有效。听一遍记住10%，看一遍记住30%，自己做一遍记住70%。</a:t>
            </a:r>
          </a:p>
          <a:p/>
          <a:p>
            <a:r>
              <a:t>感谢大家！有什么问题吗？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大学生学习辅导平台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FD2FF"/>
                </a:solidFill>
                <a:latin typeface="Microsoft YaHei"/>
              </a:defRPr>
            </a:pPr>
            <a:r>
              <a:t>项目技术架构讲解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Vite 8 + React 19 + React Router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23360"/>
            <a:ext cx="393192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1/30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讲解大纲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1.  项目全局认识 — 看效果、理解 SPA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2.  React 核心概念 — 组件、状态、事件、列表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3.  React Router 路由系统 — 路由配置、嵌套路由、动态参数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4.  CSS 现代技巧 — 变量、Flexbox、响应式、暗色模式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5.  工程化工具链 — Vite、ESLint、npm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6.  总结与答疑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D2FF"/>
                </a:solidFill>
                <a:latin typeface="Microsoft YaHei"/>
              </a:defRPr>
            </a:pPr>
            <a:r>
              <a:t>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项目全局认识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什么是单页应用（SPA）？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7BFF"/>
                </a:solidFill>
                <a:latin typeface="Microsoft YaHei"/>
              </a:defRPr>
            </a:pPr>
            <a:r>
              <a:t>传统多页应用 (MPA)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B8C4D0"/>
                </a:solidFill>
                <a:latin typeface="Microsoft YaHei"/>
              </a:defRPr>
            </a:pPr>
            <a:r>
              <a:t>点击链接</a:t>
            </a:r>
          </a:p>
          <a:p>
            <a:pPr>
              <a:spcAft>
                <a:spcPts val="800"/>
              </a:spcAft>
              <a:defRPr sz="1800">
                <a:solidFill>
                  <a:srgbClr val="B8C4D0"/>
                </a:solidFill>
                <a:latin typeface="Microsoft YaHei"/>
              </a:defRPr>
            </a:pPr>
            <a:r>
              <a:t>-&gt; 浏览器请求新 HTML</a:t>
            </a:r>
          </a:p>
          <a:p>
            <a:pPr>
              <a:spcAft>
                <a:spcPts val="800"/>
              </a:spcAft>
              <a:defRPr sz="1800">
                <a:solidFill>
                  <a:srgbClr val="B8C4D0"/>
                </a:solidFill>
                <a:latin typeface="Microsoft YaHei"/>
              </a:defRPr>
            </a:pPr>
            <a:r>
              <a:t>-&gt; 白屏等待</a:t>
            </a:r>
          </a:p>
          <a:p>
            <a:pPr>
              <a:spcAft>
                <a:spcPts val="800"/>
              </a:spcAft>
              <a:defRPr sz="1800">
                <a:solidFill>
                  <a:srgbClr val="B8C4D0"/>
                </a:solidFill>
                <a:latin typeface="Microsoft YaHei"/>
              </a:defRPr>
            </a:pPr>
            <a:r>
              <a:t>-&gt; 重新加载整个页面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D2FF"/>
                </a:solidFill>
                <a:latin typeface="Microsoft YaHei"/>
              </a:defRPr>
            </a:pPr>
            <a:r>
              <a:t>单页应用 (SPA)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点击链接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-&gt; JS 拦截，更新地址栏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-&gt; 只替换变化的组件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-&gt; 无白屏，瞬间切换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FD2FF"/>
                </a:solidFill>
                <a:latin typeface="Microsoft YaHei"/>
              </a:defRPr>
            </a:pPr>
            <a:r>
              <a:t>本项目只有 1 个 HTML 文件，所有"页面切换"都是 JS 动态完成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项目目录结构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75488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src/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main.jsx          &lt;- 入口文件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App.jsx           &lt;- 路由定义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index.css         &lt;- 全局样式+CSS变量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components/       &lt;- 可复用组件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Layout.jsx      &lt;- 页面布局壳子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Layout.css      &lt;- 布局样式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Navbar.jsx      &lt;- 导航栏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pages/            &lt;- 路由页面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Home.jsx        &lt;- /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Courses.jsx     &lt;- /courses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CourseDetail.jsx &lt;- /courses/:id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Plan.jsx        &lt;- /plan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NotFound.jsx    &lt;- 404页面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D2FF"/>
                </a:solidFill>
                <a:latin typeface="Microsoft YaHei"/>
              </a:defRPr>
            </a:pPr>
            <a:r>
              <a:t>组织原则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4688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B8C4D0"/>
                </a:solidFill>
                <a:latin typeface="Microsoft YaHei"/>
              </a:defRPr>
            </a:pPr>
            <a:r>
              <a:t>components/ -&gt; 多个页面复用的组件</a:t>
            </a:r>
          </a:p>
          <a:p>
            <a:pPr>
              <a:spcAft>
                <a:spcPts val="800"/>
              </a:spcAft>
              <a:defRPr sz="1700">
                <a:solidFill>
                  <a:srgbClr val="B8C4D0"/>
                </a:solidFill>
                <a:latin typeface="Microsoft YaHei"/>
              </a:defRPr>
            </a:pPr>
            <a:r>
              <a:t>pages/ -&gt; 与 URL 一一对应的页面</a:t>
            </a:r>
          </a:p>
          <a:p>
            <a:pPr>
              <a:spcAft>
                <a:spcPts val="800"/>
              </a:spcAft>
              <a:defRPr sz="1700">
                <a:solidFill>
                  <a:srgbClr val="B8C4D0"/>
                </a:solidFill>
                <a:latin typeface="Microsoft YaHei"/>
              </a:defRPr>
            </a:pPr>
            <a:r>
              <a:t>找页面去 pages/</a:t>
            </a:r>
          </a:p>
          <a:p>
            <a:pPr>
              <a:spcAft>
                <a:spcPts val="800"/>
              </a:spcAft>
              <a:defRPr sz="1700">
                <a:solidFill>
                  <a:srgbClr val="B8C4D0"/>
                </a:solidFill>
                <a:latin typeface="Microsoft YaHei"/>
              </a:defRPr>
            </a:pPr>
            <a:r>
              <a:t>找 UI 组件去 components/</a:t>
            </a:r>
          </a:p>
          <a:p>
            <a:pPr>
              <a:spcAft>
                <a:spcPts val="800"/>
              </a:spcAft>
              <a:defRPr sz="1700">
                <a:solidFill>
                  <a:srgbClr val="B8C4D0"/>
                </a:solidFill>
                <a:latin typeface="Microsoft YaHei"/>
              </a:defRPr>
            </a:pPr>
            <a:r>
              <a:t>每个文件只做一件事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数据流 — 从 HTML 到页面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4114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index.html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main.jsx            入口：创建React根节点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-&gt; BrowserRouter   路由容器（监听URL变化）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-&gt; App.jsx     路由配置（URL-&gt;组件映射）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-&gt; Layout  布局壳子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|- Navbar    导航栏（固定不变）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|- Outlet    内容插槽（根据URL切换）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    |- "/"          -&gt; Home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    |- "/courses"   -&gt; Courses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    |- "/courses/:id" -&gt; CourseDetail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        |- "*"          -&gt; NotFound (404)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C4D0"/>
                </a:solidFill>
                <a:latin typeface="Microsoft YaHei"/>
              </a:defRPr>
            </a:pPr>
            <a:r>
              <a:t>像套娃一样层层嵌套：HTML -&gt; React入口 -&gt; 路由 -&gt; 布局 -&gt; 页面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D2FF"/>
                </a:solidFill>
                <a:latin typeface="Microsoft YaHei"/>
              </a:defRPr>
            </a:pPr>
            <a:r>
              <a:t>第二部分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React 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JSX — 在 JS 中写 HTML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32004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export default function Home()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&lt;section&gt;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  &lt;h1&gt;首页&lt;/h1&gt;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  &lt;p&gt;大学生学习辅导平台&lt;/p&gt;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&lt;/section&gt;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D2FF"/>
                </a:solidFill>
                <a:latin typeface="Microsoft YaHei"/>
              </a:defRPr>
            </a:pPr>
            <a:r>
              <a:t>关键要点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React组件 = 返回JSX的函数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函数名必须大写开头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JSX 不等于 HTML：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class -&gt; className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for -&gt; htmlFor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标签必须闭合 &lt;br /&gt;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花括号 {} 嵌入JS表达式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JSX 和 HTML 的关键区别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JSX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class="app"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148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className="app"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class是JS保留字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for="input"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htmlFor="input"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for是JS保留字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&lt;br&gt;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546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&lt;br /&gt;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JSX要求标签闭合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style="color:red"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style={{color:'red'}}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style接收对象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onclick="fn()"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1605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onClick={fn}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驼峰+函数引用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useState — 组件的记忆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13716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const [hoveredTo, setHoveredTo] = useState(null)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    当前值       更新函数              初始值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状态更新流程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调用 setHoveredTo('/courses')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React 记住新值 '/courses'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重新执行 Navbar 函数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hoveredTo 变成了 '/courses'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返回新 JSX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-&gt; 更新页面显示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类比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9456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普通变量：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函数执行完就忘了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useState 变量：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像手机备忘录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React 帮你"记住"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调用set函数才能修改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useState 实战 — 导航悬停效果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114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两个状态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const [hoveredTo, setHoveredTo] = useState(null)  // 当前悬停的链接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const [query, setQuery] = useState('')              // 搜索框内容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鼠标进入链接时 -&gt; 更新 hoveredTo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onMouseEnter={() =&gt; setHoveredTo(to)}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鼠标离开导航栏时 -&gt; 重置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onMouseLeave={() =&gt; setHoveredTo(null)}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搜索框输入时 -&gt; 更新 query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onChange={(e) =&gt; setQuery(e.target.value)}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11/30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事件处理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32004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鼠标离开导航栏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onMouseLeave={() =&gt; setHoveredTo(null)}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鼠标进入链接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onMouseEnter={() =&gt; setHoveredTo('/')}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输入框变化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onChange={(e) =&gt; setQuery(e.target.value)}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React事件 vs HTML事件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驼峰命名：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onclick -&gt; onClick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onchange -&gt; onChange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传函数引用，不是字符串：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onClick={fn}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不是 onclick="fn()"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常用事件：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onClick, onChange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onMouseEnter/Leave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onSubmit, onKeyDown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12/30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条件渲染 — 动态高亮逻辑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27432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function shouldShowActive(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isRouteActive, hoveredTo, to)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if (!isRouteActive) return false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if (hoveredTo == null) return true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return hoveredTo === to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5943600" cy="164592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// 三元运算符决定CSS类名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className={({ isActive }) =&gt;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shouldShowActive(isActive, hoveredTo, to)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? 'app-nav-link app-nav-link--active'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: 'app-nav-link'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三种场景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场景1: 在首页，不悬停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首页高亮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场景2: 在首页，悬停"课程"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首页高亮消失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课程有hover效果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场景3: 鼠标移出导航栏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首页高亮恢复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13/30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列表渲染 — .map() + key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const links = [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{ to: '/', label: '首页' },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{ to: '/courses', label: '课程' },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{ to: '/plan', label: '学习计划' },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// ...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943600" cy="1828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{links.map(({ to, label }) =&gt; 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&lt;NavLink key={to} to={to}&gt;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{label}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&lt;/NavLink&gt;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))}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为什么需要 key？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2860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key 帮 React 识别列表项身份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没有key：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列表变化时React更新所有节点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有key：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React只更新变化的节点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key的规则：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1. 兄弟间唯一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2. 稳定（不要用index）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3. 不会作为prop传递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14/30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数据驱动 vs 手写重复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7BFF"/>
                </a:solidFill>
                <a:latin typeface="Microsoft YaHei"/>
              </a:defRPr>
            </a:pPr>
            <a:r>
              <a:t>X  手写重复代码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to="/"&gt;首页&lt;/NavLink&gt;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to="/courses"&gt;课程&lt;/NavLink&gt;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to="/plan"&gt;学习计划&lt;/NavLink&gt;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to="/progress"&gt;学习进度&lt;/NavLink&gt;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to="/qa"&gt;提问&lt;/NavLink&gt;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 to="/profile"&gt;个人中心&lt;/NavLink&gt;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V  数据驱动（项目实际写法）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27432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const links = [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{ to: '/', label: '首页' },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{ to: '/courses', label: '课程' },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...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]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{links.map(item =&gt;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&lt;NavLink key={item.to} .../&gt;)}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8C4D0"/>
                </a:solidFill>
                <a:latin typeface="Microsoft YaHei"/>
              </a:defRPr>
            </a:pPr>
            <a:r>
              <a:t>新增导航项只需在数组加一项，不用改JSX结构。数据可以从API获取、可以动态过滤。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15/30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D2FF"/>
                </a:solidFill>
                <a:latin typeface="Microsoft YaHei"/>
              </a:defRPr>
            </a:pPr>
            <a:r>
              <a:t>第三部分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React Router 路由系统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16/30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路由配置 — App.jsx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400800" cy="4114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&lt;Routes&gt;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&lt;Route element={&lt;Layout /&gt;}&gt;        // 布局壳子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path="/" element={&lt;Home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path="/courses" element={&lt;Courses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path="/courses/:id"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element={&lt;CourseDetail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path="/plan" element={&lt;Plan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path="/progress" element={&lt;Progress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path="/qa" element={&lt;QA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path="/profile" element={&lt;Profile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&lt;Route path="*" element={&lt;NotFound /&gt;} /&gt;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&lt;/Route&gt;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&lt;/Routes&gt;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要点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2860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父Route没有path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它是布局壳子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子Route有path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URL与组件的映射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:id 是动态参数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匹配任意值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* 是通配符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放最后做404页面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17/30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路由匹配规则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匹配路由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D2FF"/>
                </a:solidFill>
                <a:latin typeface="Microsoft YaHei"/>
              </a:defRPr>
            </a:pPr>
            <a:r>
              <a:t>渲染组件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48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path="/"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148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path="/courses"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Courses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/courses/42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154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path="/courses/:id"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154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CourseDetail (id=42)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/courses/abc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6576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path="/courses/:id"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CourseDetail (id=abc)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60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160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path="/plan"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160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/xyz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63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path="*"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663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4D0"/>
                </a:solidFill>
                <a:latin typeface="Microsoft YaHei"/>
              </a:defRPr>
            </a:pPr>
            <a:r>
              <a:t>NotFound (404)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18/30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嵌套路由 — 布局的秘密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56032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export default function Layout() {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&lt;div className="app-shell"&gt;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&lt;Navbar /&gt;          // 始终渲染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&lt;main className="app-main"&gt;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&lt;Outlet /&gt;        // 根据URL切换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&lt;/main&gt;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&lt;/div&gt;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256032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访问 /courses 时的渲染结果：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+-- Layout ----------------+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|  +-- Navbar ----------+  |  &lt;- 不变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|  +--------------------+  |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|  +-- Outlet ----------+  |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|  |  &lt;Courses /&gt;       |  |  &lt;- 切换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|  +--------------------+  |</a:t>
            </a:r>
          </a:p>
          <a:p>
            <a:pPr>
              <a:spcAft>
                <a:spcPts val="200"/>
              </a:spcAft>
              <a:defRPr sz="1300">
                <a:solidFill>
                  <a:srgbClr val="4EC9B0"/>
                </a:solidFill>
                <a:latin typeface="Consolas"/>
              </a:defRPr>
            </a:pPr>
            <a:r>
              <a:t>+---------------------------+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D2FF"/>
                </a:solidFill>
                <a:latin typeface="Microsoft YaHei"/>
              </a:defRPr>
            </a:pPr>
            <a:r>
              <a:t>Outlet 是一个"插槽"——React Router 把匹配的页面塞进这个插槽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B8C4D0"/>
                </a:solidFill>
                <a:latin typeface="Microsoft YaHei"/>
              </a:defRPr>
            </a:pPr>
            <a:r>
              <a:t>导航栏在 Outlet 外面，所以页面切换时导航栏不重新渲染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19/30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动态路由参数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109728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路由定义 — 冒号开头 = 动态参数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&lt;Route path="/courses/:id" element={&lt;CourseDetail /&gt;} /&gt;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943600" cy="292608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// 组件中获取参数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import { useParams } from 'react-router-dom'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export default function CourseDetail()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const { id } = useParams()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return 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&lt;p&gt;当前课程 ID: &lt;code&gt;{id}&lt;/code&gt;&lt;/p&gt;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匹配示例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2860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/courses/1     -&gt; id = "1"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/courses/42    -&gt; id = "42"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/courses/react -&gt; id = "react"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后续可用 id 请求API：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fetch(`/api/courses/${id}`)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.then(res =&gt; res.json())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.then(data =&gt; setCourse(data))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20/30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NavLink vs Link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NavLink — 导航栏用（有高亮）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&lt;NavLink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to="/courses"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className={({ isActive }) =&gt;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isActive ? 'active' : ''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课程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&lt;/NavLink&gt;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7BFF"/>
                </a:solidFill>
                <a:latin typeface="Microsoft YaHei"/>
              </a:defRPr>
            </a:pPr>
            <a:r>
              <a:t>Link — 页面内容用（普通跳转）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30352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// 课程列表中的链接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&lt;Link to="/courses/1"&gt;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查看课程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&lt;/Link&gt;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// 404页面的返回链接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&lt;Link to="/"&gt;回到首页&lt;/Link&gt;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需要高亮当前页 -&gt; NavLink    |    普通跳转 -&gt;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21/30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D2FF"/>
                </a:solidFill>
                <a:latin typeface="Microsoft YaHei"/>
              </a:defRPr>
            </a:pPr>
            <a:r>
              <a:t>第四部分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CSS 现代技巧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22/30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CSS 变量 — 一处定义，处处使用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/* 定义变量 */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:root {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--text: #6b6375;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--accent: #aa3bff;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--bg: #fff;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/* 使用变量 */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h1 { color: var(--text-h); }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code { background: var(--code-bg);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为什么用CSS变量？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一处修改，全局生效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改 --accent 的值 -&gt; 全站强调色变化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支持主题切换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暗色模式只需重新赋值变量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语义化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var(--accent) 比 #aa3bff 更有意义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作用域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:root 全局，.class 局部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8C4D0"/>
                </a:solidFill>
                <a:latin typeface="Microsoft YaHei"/>
              </a:defRPr>
            </a:pPr>
            <a:r>
              <a:t>【演示】在开发者工具中改 --accent 值，观察全站颜色同时变化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23/30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暗色模式 — 零 JS 开销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/* 亮色（默认） */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:root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--bg: #fff;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--text: #6b6375;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--accent: #aa3bff;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/* 暗色（跟随系统） */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@media (prefers-color-scheme: dark)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:root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--bg: #16171d;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--text: #9ca3af;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--accent: #c084fc;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所有样式用 var(--xxx)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切换暗色时，只重新定义变量值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-&gt; 整个页面颜色自动切换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-&gt; 不需要修改任何组件样式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-&gt; 零 JavaScript 开销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颜色对比：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--bg:     #fff -&gt; #16171d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--text:   #6b6375 -&gt; #9ca3af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--accent: #aa3bff -&gt; #c084fc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24/30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Flexbox 三栏布局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22860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.app-header__inner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display: flex;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justify-content: space-between;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align-items: center;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gap: 12px;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+------------+------------------+--------------+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|   品牌Logo  |     导航链接      |   搜索+按钮   |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|   (left)   |    (center)      |   (right)    |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| min:220px  |    flex: 1       |  min:320px   |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+------------+------------------+--------------+</a:t>
            </a:r>
          </a:p>
          <a:p>
            <a:pPr>
              <a:spcAft>
                <a:spcPts val="200"/>
              </a:spcAft>
              <a:defRPr sz="1400">
                <a:solidFill>
                  <a:srgbClr val="4EC9B0"/>
                </a:solidFill>
                <a:latin typeface="Consolas"/>
              </a:defRPr>
            </a:pPr>
            <a:r>
              <a:t>              justify-content: space-between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Flex 属性速查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display: flex    开启弹性布局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flex: 1          占满剩余空间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justify-content  主轴对齐方式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align-items      交叉轴对齐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gap              子元素间距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25/30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响应式设计 — 5 个断点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41148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1214px+        完整布局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           Logo+文字+导航+搜索+按钮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1213-981px     隐藏品牌文字，只显示Logo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980-818px      隐藏品牌区，一行排列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817-641px      三段式堆叠布局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640-421px      移动端全宽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&lt;=420px        隐藏语言按钮，搜索框缩窄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策略：桌面优先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默认样式为大屏设计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用 max-width 逐步适配小屏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min-width + max-width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确保断点互不重叠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每个宽度只有一组样式生效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@media (max-width: 980px)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and (min-width: 818px)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{ ...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26/30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渐变背景 — 导航栏的视觉质感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943600" cy="3200400"/>
          </a:xfrm>
          <a:prstGeom prst="rect">
            <a:avLst/>
          </a:prstGeom>
          <a:solidFill>
            <a:srgbClr val="1A1A2E"/>
          </a:solidFill>
        </p:spPr>
        <p:txBody>
          <a:bodyPr wrap="square" lIns="180000" tIns="120000" rIns="180000" bIns="12000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.app-header {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background: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radial-gradient(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  ...青色光晕...),     /* 第1层 */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radial-gradient(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  ...紫色光晕...),     /* 第2层 */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    #0b1b2a;               /* 第3层：深蓝底色 */</a:t>
            </a:r>
          </a:p>
          <a:p>
            <a:pPr>
              <a:spcAft>
                <a:spcPts val="200"/>
              </a:spcAft>
              <a:defRPr sz="15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D2FF"/>
                </a:solidFill>
                <a:latin typeface="Microsoft YaHei"/>
              </a:defRPr>
            </a:pPr>
            <a:r>
              <a:t>三层叠加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第3层（最底）：深蓝色 #0b1b2a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第2层：右上方紫色径向渐变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第1层（最顶）：左上方青色径向渐变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视觉效果：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深蓝底 + 左上青光 + 右上紫光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= 科技感 + 高级感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CSS支持多背景（逗号分隔）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27/30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FD2FF"/>
                </a:solidFill>
                <a:latin typeface="Microsoft YaHei"/>
              </a:defRPr>
            </a:pPr>
            <a:r>
              <a:t>第五部分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工程化工具链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28/30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Vite + ESLint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D2FF"/>
                </a:solidFill>
                <a:latin typeface="Microsoft YaHei"/>
              </a:defRPr>
            </a:pPr>
            <a:r>
              <a:t>Vite — 构建工具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开发时：按需编译，毫秒级HMR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构建时：打包压缩优化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JS: 75KB (gzip)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CSS: 2KB (gzip)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类比：同声传译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你说中文(JSX)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Vite实时翻译成英文(JS)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浏览器就能理解了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7BFF"/>
                </a:solidFill>
                <a:latin typeface="Microsoft YaHei"/>
              </a:defRPr>
            </a:pPr>
            <a:r>
              <a:t>ESLint — 代码检查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自动发现代码问题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检查内容：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未使用的变量 -&gt; 报错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React Hooks规则违反 -&gt; 报错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不规范的写法 -&gt; 警告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类比：代码审查助手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帮你发现常见错误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  在提交前就修好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4D0"/>
                </a:solidFill>
                <a:latin typeface="Microsoft YaHei"/>
              </a:defRPr>
            </a:pPr>
            <a:r>
              <a:t>【演示】故意写 const unused = "hello" -&gt; npm run lint -&gt; 报错 -&gt; 修复 -&gt; 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29/30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总结与下一步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286000" cy="28000"/>
          </a:xfrm>
          <a:prstGeom prst="rect">
            <a:avLst/>
          </a:prstGeom>
          <a:solidFill>
            <a:srgbClr val="4F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D2FF"/>
                </a:solidFill>
                <a:latin typeface="Microsoft YaHei"/>
              </a:defRPr>
            </a:pPr>
            <a:r>
              <a:t>已掌握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React 组件 + JSX 语法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useState 状态管理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事件处理 + 条件渲染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列表渲染 (.map + key)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React Router 路由系统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嵌套路由 + 动态参数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CSS 变量 + Flexbox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响应式设计 (5个断点)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暗色模式 + 渐变背景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Vite 构建 + ESLint 检查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B7BFF"/>
                </a:solidFill>
                <a:latin typeface="Microsoft YaHei"/>
              </a:defRPr>
            </a:pPr>
            <a:r>
              <a:t>下一步学习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945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全局状态管理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React Context / Zustand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数据获取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TanStack Query (React Query)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表单处理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React Hook Form + Zod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TypeScript 类型安全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.jsx -&gt; .tsx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测试框架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Vitest + Testing Library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部署上线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Microsoft YaHei"/>
              </a:defRPr>
            </a:pPr>
            <a:r>
              <a:t>  -&gt; Vercel (免费)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FD2FF"/>
                </a:solidFill>
                <a:latin typeface="Microsoft YaHei"/>
              </a:defRPr>
            </a:pPr>
            <a:r>
              <a:t>最重要的建议：不要只看文档，动手改代码！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07080"/>
                </a:solidFill>
                <a:latin typeface="Microsoft YaHei"/>
              </a:defRPr>
            </a:pPr>
            <a:r>
              <a:t>30/30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